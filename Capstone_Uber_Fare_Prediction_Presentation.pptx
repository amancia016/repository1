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4"/>
  </p:notesMasterIdLst>
  <p:handoutMasterIdLst>
    <p:handoutMasterId r:id="rId35"/>
  </p:handoutMasterIdLst>
  <p:sldIdLst>
    <p:sldId id="314" r:id="rId5"/>
    <p:sldId id="315" r:id="rId6"/>
    <p:sldId id="318" r:id="rId7"/>
    <p:sldId id="329" r:id="rId8"/>
    <p:sldId id="342" r:id="rId9"/>
    <p:sldId id="335" r:id="rId10"/>
    <p:sldId id="355" r:id="rId11"/>
    <p:sldId id="360" r:id="rId12"/>
    <p:sldId id="361" r:id="rId13"/>
    <p:sldId id="353" r:id="rId14"/>
    <p:sldId id="352" r:id="rId15"/>
    <p:sldId id="354" r:id="rId16"/>
    <p:sldId id="357" r:id="rId17"/>
    <p:sldId id="356" r:id="rId18"/>
    <p:sldId id="359" r:id="rId19"/>
    <p:sldId id="364" r:id="rId20"/>
    <p:sldId id="344" r:id="rId21"/>
    <p:sldId id="334" r:id="rId22"/>
    <p:sldId id="341" r:id="rId23"/>
    <p:sldId id="345" r:id="rId24"/>
    <p:sldId id="362" r:id="rId25"/>
    <p:sldId id="336" r:id="rId26"/>
    <p:sldId id="337" r:id="rId27"/>
    <p:sldId id="349" r:id="rId28"/>
    <p:sldId id="350" r:id="rId29"/>
    <p:sldId id="347" r:id="rId30"/>
    <p:sldId id="321" r:id="rId31"/>
    <p:sldId id="363" r:id="rId32"/>
    <p:sldId id="30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5" autoAdjust="0"/>
    <p:restoredTop sz="95388" autoAdjust="0"/>
  </p:normalViewPr>
  <p:slideViewPr>
    <p:cSldViewPr snapToGrid="0">
      <p:cViewPr>
        <p:scale>
          <a:sx n="75" d="100"/>
          <a:sy n="75" d="100"/>
        </p:scale>
        <p:origin x="201" y="-159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175FE-F0A5-8E49-A2B9-9DFA5DDF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979D2-6A52-ECF5-6B35-EFFB28351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88EBC-38C5-AA2E-69BE-D056A0A9C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874C1-03F7-71E0-F212-5DBBC221A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00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ECA15-89B7-7C78-CA77-06AE2427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FF2B1-886B-FA33-13C8-AF300CC4E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5DEBB-3AE2-161E-2829-91ADBAEBA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7D426-87AC-F153-3D8F-8395FD432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885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B9E-A879-C7EE-E818-C97CD4823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4107D-72A0-64E9-606D-B35015B86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BBC62-341D-D4A5-E5B8-C6D35F268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7FB12-79A9-5CEB-F259-6CEBB58E1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454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09FF-C9B6-779E-3B47-986B846D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6E224-FFE6-AC98-8EBD-735D8892A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A1A15-95DD-7425-5FB2-25DEDFA2C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008E6-445F-32C7-BCB9-7ED92142A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97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BA1CF-DE1B-CD50-314F-73F87594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5E090-1D62-1C0B-FB35-79BB2205D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BAF19-7BAD-FCF9-31F7-E7E7E7114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FBDED-DC5E-4B90-09B0-6B06F2FD2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73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88C2-CCA5-F260-AD9F-25BD2BC0F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77F18-19F2-C8EF-B1CA-AD4ADB80D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CF71A-A56D-8F78-090A-0F5208ACA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28816-9B9D-CE2A-5469-7777EFD2D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21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A7F8-8B34-BDEF-EAC3-730C0E83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53CEC-5CB1-F5D7-2063-A0D085C8D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0C752-030A-09B9-BFE4-9BFE0692D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2F636-883F-B1A1-DA4D-7C35F86BA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395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C413C-C1B2-4410-3F66-620091B7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CD221-8107-8142-C12B-514FE3734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254B3-A64D-86D6-BFC3-F43E73CEE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EB0CE-E5A5-FFEE-758A-268AC5C72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021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08A2-D63A-8B54-919A-697DDCA3C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2CEBB-C136-9B33-9138-5F9E4B6C9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48EB8-6275-36A3-8358-7CC3DF666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E23AF-B824-EB5B-CD6A-B487D9A2E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15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C3B0F-2240-D54D-F344-6AC69027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A76B0-D45A-34BA-9075-C46172E6D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BB7E2-D18F-6266-21C3-64DB8675B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8DF5B-90F0-3B11-58CB-C6A8F7008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711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6200-6622-D584-5EFD-5F97B6AB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9F044-F9F4-D345-F60C-6E6853C7E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DBE81-201E-7F61-7E74-9224D140E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9D286-07DA-18C2-E0B8-58241FC35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668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EE4F-0FC1-E130-7B16-071B356D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EE279-D1E3-7888-C12A-868C54DD3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8E7BE-84C0-DFEA-35CC-6C5384D25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13784-E8C6-75A9-2426-8CED34CEE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4296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87748-E27F-2DA7-BE9B-09E06F7F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EF5BD-C6A8-10E6-22DA-E23E7F2E2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A7EF1-50DE-AB50-2870-43F4D076C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1B077-EA8A-561A-E357-BB89A8048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789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45B30-8E54-E026-04FA-4E3EE112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8AD7F-E589-D576-A8F7-F129843A8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C2CE4-A920-B882-361F-128AED9AC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5A630-8966-C4B3-9F6F-C8EB63CA7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989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6A9D-E9DD-4FB2-9EF3-E33EB214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590C0-750D-C8CA-5C9B-9BA199143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2EE00-B1F7-D32E-18E8-B350FC918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F2331-B6D8-CA20-1A02-FDA209A84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984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19404-6306-FA0A-C919-3FBDAEED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513B0-995F-788E-6259-04889AC7F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FDF28-66AE-18DA-32C4-4D1543A07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68710-FB88-ABC7-6896-9C20E7C3E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8248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DF67E-AEA3-2111-0522-C741361F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AAD65-4023-BE50-D82E-F5DAAC3D1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05C5F-258B-7B7B-F4AE-1C0AEF307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A8C77-B022-23D0-4DFB-F0C89F584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5078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832C1-4E37-6E3E-A88E-D48C1C37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A3F56-5A68-18A8-C161-88C81364E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5898D-1C4C-C16D-23AC-8C5D667E2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55D11-19BB-2FAE-0892-A10905D03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491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C3AB-D191-E965-517C-88D4E339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34A53-1AA5-6E7E-1E66-5490C2195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90613-4A88-B0D8-B524-948A5E0CE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0BF50-7BD0-18D2-1E4D-06978747E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804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28D26-E56F-B31B-A8B8-551BC02F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71C19-335C-ADC2-EC14-BB8BA7106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EE536-2D43-4DCD-FD5E-674150EBD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D1537-8D8E-BE3B-168F-B14DF9827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5922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84CC-F211-6456-C61A-AFAEC81B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8E4FE-1BD3-E932-BB21-F827BD0A5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2B961-A91B-AAE4-DA2A-67C68FABD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3647A-9D3D-EF58-52A9-852F1265A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396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B9E2-38FB-1276-E5B1-A87C23F6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30658-8F1E-305E-5EA3-572BD96FA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B72C5-BA41-37D8-E335-9219D03C9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968D5-3B8B-1C82-286D-EA987C6B0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7882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B386-2A16-75CE-F9A2-F33169C90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776A0-9F80-4276-DA63-8E5699DD9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0BDF8-4284-2063-F4FA-E1D8C50D3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C88D5-849D-44B3-E1C9-7B51720DD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8857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F4744-6514-178B-A44E-162B90647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44ECD-8F1C-68EC-731F-E3BE2E28F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56828-F7D6-2482-6E2A-41A4FA5A6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425A7-9F5B-4537-B6F0-C4289FC52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8281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>
            <a:normAutofit/>
          </a:bodyPr>
          <a:lstStyle/>
          <a:p>
            <a:r>
              <a:rPr lang="en-US" dirty="0"/>
              <a:t>Uber fares Prediction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Anthony </a:t>
            </a:r>
            <a:r>
              <a:rPr lang="en-US" sz="2800" dirty="0" err="1"/>
              <a:t>mancia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/>
          <a:lstStyle/>
          <a:p>
            <a:r>
              <a:rPr lang="en-US" dirty="0"/>
              <a:t>Business scenario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The Challenge:</a:t>
            </a:r>
            <a:r>
              <a:rPr lang="en-US" dirty="0"/>
              <a:t> Uber's dynamic pricing, while optimizing supply and demand, often leaves users uncertain about fare calculation and influencing factors.</a:t>
            </a:r>
          </a:p>
          <a:p>
            <a:r>
              <a:rPr lang="en-US" b="1" dirty="0"/>
              <a:t>Our Goal:</a:t>
            </a:r>
            <a:r>
              <a:rPr lang="en-US" dirty="0"/>
              <a:t> To develop an interactive </a:t>
            </a:r>
            <a:r>
              <a:rPr lang="en-US" dirty="0" err="1"/>
              <a:t>Streamlit</a:t>
            </a:r>
            <a:r>
              <a:rPr lang="en-US" dirty="0"/>
              <a:t> application that closely mimics the real Uber fare estimation experience.</a:t>
            </a:r>
          </a:p>
          <a:p>
            <a:r>
              <a:rPr lang="en-US" b="1" dirty="0"/>
              <a:t>Value Proposition:</a:t>
            </a:r>
            <a:r>
              <a:rPr lang="en-US" dirty="0"/>
              <a:t> Provide users with transparent, real-time-like fare predictions, empowering them to understand pricing dynamics and make informed ride decisions.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Dataset contains: 200,000 rows &amp; 9 columns</a:t>
            </a:r>
          </a:p>
          <a:p>
            <a:pPr marL="0" indent="0">
              <a:buNone/>
            </a:pPr>
            <a:endParaRPr lang="en-US" dirty="0"/>
          </a:p>
          <a:p>
            <a:pPr fontAlgn="base"/>
            <a:r>
              <a:rPr lang="en-US" b="1" dirty="0"/>
              <a:t>key</a:t>
            </a:r>
            <a:r>
              <a:rPr lang="en-US" dirty="0"/>
              <a:t> - a unique identifier for each trip</a:t>
            </a:r>
          </a:p>
          <a:p>
            <a:pPr fontAlgn="base"/>
            <a:r>
              <a:rPr lang="en-US" b="1" dirty="0" err="1"/>
              <a:t>fare_amount</a:t>
            </a:r>
            <a:r>
              <a:rPr lang="en-US" b="1" dirty="0"/>
              <a:t> </a:t>
            </a:r>
            <a:r>
              <a:rPr lang="en-US" dirty="0"/>
              <a:t>- the cost of each trip in </a:t>
            </a:r>
            <a:r>
              <a:rPr lang="en-US" dirty="0" err="1"/>
              <a:t>usd</a:t>
            </a:r>
            <a:endParaRPr lang="en-US" dirty="0"/>
          </a:p>
          <a:p>
            <a:pPr fontAlgn="base"/>
            <a:r>
              <a:rPr lang="en-US" b="1" dirty="0" err="1"/>
              <a:t>pickup_datetime</a:t>
            </a:r>
            <a:r>
              <a:rPr lang="en-US" b="1" dirty="0"/>
              <a:t> </a:t>
            </a:r>
            <a:r>
              <a:rPr lang="en-US" dirty="0"/>
              <a:t>- date and time when the meter was engaged</a:t>
            </a:r>
          </a:p>
          <a:p>
            <a:pPr fontAlgn="base"/>
            <a:r>
              <a:rPr lang="en-US" b="1" dirty="0" err="1"/>
              <a:t>passenger_count</a:t>
            </a:r>
            <a:r>
              <a:rPr lang="en-US" b="1" dirty="0"/>
              <a:t> </a:t>
            </a:r>
            <a:r>
              <a:rPr lang="en-US" dirty="0"/>
              <a:t>- the number of passengers in the vehicle (driver entered value)</a:t>
            </a:r>
          </a:p>
          <a:p>
            <a:pPr fontAlgn="base"/>
            <a:r>
              <a:rPr lang="en-US" b="1" dirty="0" err="1"/>
              <a:t>pickup_longitude</a:t>
            </a:r>
            <a:r>
              <a:rPr lang="en-US" b="1" dirty="0"/>
              <a:t> </a:t>
            </a:r>
            <a:r>
              <a:rPr lang="en-US" dirty="0"/>
              <a:t>- the longitude where the meter was engaged</a:t>
            </a:r>
          </a:p>
          <a:p>
            <a:pPr fontAlgn="base"/>
            <a:r>
              <a:rPr lang="en-US" b="1" dirty="0" err="1"/>
              <a:t>pickup_latitude</a:t>
            </a:r>
            <a:r>
              <a:rPr lang="en-US" b="1" dirty="0"/>
              <a:t> </a:t>
            </a:r>
            <a:r>
              <a:rPr lang="en-US" dirty="0"/>
              <a:t>- the latitude where the meter was engaged</a:t>
            </a:r>
          </a:p>
          <a:p>
            <a:pPr fontAlgn="base"/>
            <a:r>
              <a:rPr lang="en-US" b="1" dirty="0" err="1"/>
              <a:t>dropoff_longitude</a:t>
            </a:r>
            <a:r>
              <a:rPr lang="en-US" b="1" dirty="0"/>
              <a:t> </a:t>
            </a:r>
            <a:r>
              <a:rPr lang="en-US" dirty="0"/>
              <a:t>- the longitude where the meter was disengaged</a:t>
            </a:r>
          </a:p>
          <a:p>
            <a:pPr fontAlgn="base"/>
            <a:r>
              <a:rPr lang="en-US" b="1" dirty="0" err="1"/>
              <a:t>dropoff_latitude</a:t>
            </a:r>
            <a:r>
              <a:rPr lang="en-US" b="1" dirty="0"/>
              <a:t> </a:t>
            </a:r>
            <a:r>
              <a:rPr lang="en-US" dirty="0"/>
              <a:t>- the latitude where the meter was disengaged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E281B-B0C9-1B9E-3BFA-2E0E6C58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6B16F3E-EFC0-3D4F-6388-1CB65D2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52481FC-B319-5F87-8C4A-5B2B97DF3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Analytic INSIGHTS</a:t>
            </a:r>
          </a:p>
        </p:txBody>
      </p:sp>
    </p:spTree>
    <p:extLst>
      <p:ext uri="{BB962C8B-B14F-4D97-AF65-F5344CB8AC3E}">
        <p14:creationId xmlns:p14="http://schemas.microsoft.com/office/powerpoint/2010/main" val="215883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2CA7E-5287-0451-0C34-BCA94295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0A25-08C6-4DF4-E127-03F2CBEE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 statistics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7C1C1-7CDE-136E-51A8-F907705B8C6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Average Fare: </a:t>
            </a:r>
            <a:r>
              <a:rPr lang="en-US" dirty="0"/>
              <a:t>$11.26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Average Distance: </a:t>
            </a:r>
            <a:r>
              <a:rPr lang="en-US" dirty="0"/>
              <a:t>3.36 km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Average Fare per km: </a:t>
            </a:r>
            <a:r>
              <a:rPr lang="en-US" dirty="0"/>
              <a:t>$4.4/km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Most Common Passenger Count: </a:t>
            </a:r>
            <a:r>
              <a:rPr lang="en-US" dirty="0"/>
              <a:t>1 passengers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Busiest Hour: </a:t>
            </a:r>
            <a:r>
              <a:rPr lang="en-US" dirty="0"/>
              <a:t>19:00 (7:00pm)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Busiest Day: </a:t>
            </a:r>
            <a:r>
              <a:rPr lang="en-US" dirty="0"/>
              <a:t>Friday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Weekend Rides %: </a:t>
            </a:r>
            <a:r>
              <a:rPr lang="en-US" dirty="0"/>
              <a:t>28.4%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Peak fare time: </a:t>
            </a:r>
            <a:r>
              <a:rPr lang="en-US" dirty="0"/>
              <a:t>5:00 (avg $15.87) (early morning has highest average fares)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ABC0A-072A-7E66-A15B-21B69B565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87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83B2-4E05-B280-76D5-746D4BF9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5B676-37A9-F494-70B9-AB67B7A57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D87FD-DCEA-B23D-5EF8-F77BE2D8B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376" y="1131329"/>
            <a:ext cx="82677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4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0044-F2E2-662B-3119-D908D3E0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AF1E4-615B-0F39-7FBB-DDB44F5B6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AD7BBE-BB99-C9DF-C145-5AB5A751C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837" y="1323832"/>
            <a:ext cx="6791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3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2336-0229-188B-DC35-83F49127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A5606-09C0-D3BA-536A-89CE44253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291D0-1160-8134-7130-03015E90B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787" y="1116012"/>
            <a:ext cx="6791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6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D8BC8-0A5B-6058-5FEA-811185DF4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B577B-9EB0-E5E9-9B45-1EB0B9726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90535-6F77-7429-F154-25116CFF3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875" y="1246930"/>
            <a:ext cx="6373787" cy="476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8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293B-B6CB-43A8-D9D1-1EFD104F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91C61-783F-E439-D510-870DCED0F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BF18E4-0413-A666-9CDD-19683AFD4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862" y="1184186"/>
            <a:ext cx="65436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2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0B7E7-4A69-6111-24CC-C327CBF8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50DA8-2204-606F-F893-1515DB22B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8B7E1-24C4-673C-E173-E022293C0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376" y="1131329"/>
            <a:ext cx="8267700" cy="5210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0C776F-99A0-DAC8-F32F-C3C42FA61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465" y="1131328"/>
            <a:ext cx="82677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88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A5FA-484C-4A91-F54A-D9750BD8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1FA05-8E1A-23E4-F4FF-C7AFA17F2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E8948E-9570-4E54-6059-D0DFA610F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913" y="1256156"/>
            <a:ext cx="6791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1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C38A7-BEDC-9307-E187-F6B17E07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52C5C-9B8E-BB10-69AD-113FFEE49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D4E1B4-6FD8-45CE-4CAB-68E55C824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837" y="1243012"/>
            <a:ext cx="68675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0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B5467-83C7-2080-5B06-6922A8B1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D2293-9139-94BD-BFC1-DCAD40849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1FAFA5-8BB1-F4CA-77DB-1229B3A42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925" y="1323832"/>
            <a:ext cx="57340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734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C650-BDD3-2995-DC73-9E7025461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E5EA5-9FCB-CD96-5DE9-C67F9DF7C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D7160-1F5D-E66B-7859-BC62998F0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1065176"/>
            <a:ext cx="6937375" cy="518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33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2618-97B0-3EA8-8BC4-62748E47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F7DD0-5DB8-9AEF-F133-EC5C553D9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F2D82F-0BB3-0124-D88E-ED0DB2B74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825" y="1184186"/>
            <a:ext cx="65341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02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F82E-CE9C-E0E8-341C-0C393C0D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D7A1-8934-1274-FE3A-1518AA2CB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4" y="282761"/>
            <a:ext cx="10354052" cy="1209765"/>
          </a:xfrm>
        </p:spPr>
        <p:txBody>
          <a:bodyPr/>
          <a:lstStyle/>
          <a:p>
            <a:pPr algn="ctr"/>
            <a:r>
              <a:rPr lang="en-US" dirty="0"/>
              <a:t>Pickup + </a:t>
            </a:r>
            <a:r>
              <a:rPr lang="en-US" dirty="0" err="1"/>
              <a:t>dropoff</a:t>
            </a:r>
            <a:br>
              <a:rPr lang="en-US" dirty="0"/>
            </a:br>
            <a:r>
              <a:rPr lang="en-US" dirty="0"/>
              <a:t>latitude &amp; longitudes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FDDB2-FA17-C5EE-7739-FF4CE4BFE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096A5D18-9C5A-8DEC-2DE6-8BF8BF6FB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05" y="1661220"/>
            <a:ext cx="10720316" cy="4247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928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85DB-5A04-CC1C-5EA5-CE94C70B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A5F2-0CA1-E591-64B2-7D1DCE39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/>
          <a:lstStyle/>
          <a:p>
            <a:pPr algn="ctr"/>
            <a:r>
              <a:rPr lang="en-US" dirty="0"/>
              <a:t>Fare amount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5F890-3CF9-3BA7-E786-6BE12AAE1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FB96B3-79A4-81B5-861C-2C3D3D801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30" y="1682869"/>
            <a:ext cx="5189988" cy="281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40A300-23C6-133C-A6F1-244902A89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746" y="1682869"/>
            <a:ext cx="5071709" cy="274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69EA0B-D949-7F81-251E-EACC10969131}"/>
              </a:ext>
            </a:extLst>
          </p:cNvPr>
          <p:cNvSpPr txBox="1"/>
          <p:nvPr/>
        </p:nvSpPr>
        <p:spPr>
          <a:xfrm>
            <a:off x="504730" y="51853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Uber introduced their surge pricing model in 2012</a:t>
            </a:r>
          </a:p>
        </p:txBody>
      </p:sp>
    </p:spTree>
    <p:extLst>
      <p:ext uri="{BB962C8B-B14F-4D97-AF65-F5344CB8AC3E}">
        <p14:creationId xmlns:p14="http://schemas.microsoft.com/office/powerpoint/2010/main" val="1854510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DA546-E831-0D9E-A363-8F1A1167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BAF4-4E20-BFC0-2202-9E3182C06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888407" cy="1646555"/>
          </a:xfrm>
        </p:spPr>
        <p:txBody>
          <a:bodyPr/>
          <a:lstStyle/>
          <a:p>
            <a:r>
              <a:rPr lang="en-US" sz="3200" dirty="0"/>
              <a:t>Feature engineering: columns added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AB56D-3C19-68D5-6846-3607BB9033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b="1" dirty="0" err="1"/>
              <a:t>distance_km</a:t>
            </a:r>
            <a:r>
              <a:rPr lang="en-US" b="1" dirty="0"/>
              <a:t>: </a:t>
            </a:r>
            <a:r>
              <a:rPr lang="en-US" dirty="0"/>
              <a:t>Haversine distance between pickup/</a:t>
            </a:r>
            <a:r>
              <a:rPr lang="en-US" dirty="0" err="1"/>
              <a:t>dropoff</a:t>
            </a:r>
            <a:r>
              <a:rPr lang="en-US" dirty="0"/>
              <a:t> </a:t>
            </a:r>
          </a:p>
          <a:p>
            <a:pPr marL="342900" indent="-342900">
              <a:buFontTx/>
              <a:buChar char="-"/>
            </a:pPr>
            <a:r>
              <a:rPr lang="en-US" b="1" dirty="0" err="1"/>
              <a:t>fare_per_km</a:t>
            </a:r>
            <a:r>
              <a:rPr lang="en-US" b="1" dirty="0"/>
              <a:t>: </a:t>
            </a:r>
            <a:r>
              <a:rPr lang="en-US" dirty="0"/>
              <a:t>Fare efficiency metric </a:t>
            </a:r>
          </a:p>
          <a:p>
            <a:pPr marL="342900" indent="-342900">
              <a:buFontTx/>
              <a:buChar char="-"/>
            </a:pPr>
            <a:r>
              <a:rPr lang="en-US" b="1" dirty="0" err="1"/>
              <a:t>estimated_duration_minutes</a:t>
            </a:r>
            <a:r>
              <a:rPr lang="en-US" b="1" dirty="0"/>
              <a:t>: </a:t>
            </a:r>
            <a:r>
              <a:rPr lang="en-US" dirty="0"/>
              <a:t>Estimated trip time </a:t>
            </a:r>
          </a:p>
          <a:p>
            <a:pPr marL="342900" indent="-342900">
              <a:buFontTx/>
              <a:buChar char="-"/>
            </a:pPr>
            <a:r>
              <a:rPr lang="en-US" b="1" dirty="0" err="1"/>
              <a:t>distance_category</a:t>
            </a:r>
            <a:r>
              <a:rPr lang="en-US" b="1" dirty="0"/>
              <a:t>: </a:t>
            </a:r>
            <a:r>
              <a:rPr lang="en-US" dirty="0"/>
              <a:t>Categorical distance grouping </a:t>
            </a:r>
          </a:p>
          <a:p>
            <a:pPr marL="342900" indent="-342900">
              <a:buFontTx/>
              <a:buChar char="-"/>
            </a:pPr>
            <a:r>
              <a:rPr lang="en-US" b="1" dirty="0" err="1"/>
              <a:t>time_of_day</a:t>
            </a:r>
            <a:r>
              <a:rPr lang="en-US" b="1" dirty="0"/>
              <a:t>: </a:t>
            </a:r>
            <a:r>
              <a:rPr lang="en-US" dirty="0"/>
              <a:t>Time period categorization </a:t>
            </a:r>
          </a:p>
          <a:p>
            <a:pPr marL="342900" indent="-342900">
              <a:buFontTx/>
              <a:buChar char="-"/>
            </a:pPr>
            <a:r>
              <a:rPr lang="en-US" dirty="0"/>
              <a:t> </a:t>
            </a:r>
            <a:r>
              <a:rPr lang="en-US" b="1" dirty="0" err="1"/>
              <a:t>is_weekend</a:t>
            </a:r>
            <a:r>
              <a:rPr lang="en-US" b="1" dirty="0"/>
              <a:t>: </a:t>
            </a:r>
            <a:r>
              <a:rPr lang="en-US" dirty="0"/>
              <a:t>Weekend indicator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E6265-DFFD-FA6C-67E5-499C74D2E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971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C030-599F-E55D-F5C1-595BDBD1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1DD8CEB-70CE-8935-4927-C9D80B55C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F707666-5ED6-4175-8600-E4373DC8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388928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053E-D27C-E918-18E0-627AA5B7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A253-D84E-1935-661D-9E25D6286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888407" cy="1646555"/>
          </a:xfrm>
        </p:spPr>
        <p:txBody>
          <a:bodyPr/>
          <a:lstStyle/>
          <a:p>
            <a:r>
              <a:rPr lang="en-US" sz="3200" dirty="0"/>
              <a:t>Featur</a:t>
            </a:r>
            <a:r>
              <a:rPr lang="en-US" dirty="0"/>
              <a:t>es used in modeling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B2AF1-78DA-DC72-10A4-0660CE84306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3619501" cy="415575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pickup_longitude</a:t>
            </a:r>
            <a:endParaRPr lang="en-US" b="1" dirty="0"/>
          </a:p>
          <a:p>
            <a:r>
              <a:rPr lang="en-US" b="1" dirty="0" err="1"/>
              <a:t>pickup_latitude</a:t>
            </a:r>
            <a:endParaRPr lang="en-US" b="1" dirty="0"/>
          </a:p>
          <a:p>
            <a:r>
              <a:rPr lang="en-US" b="1" dirty="0" err="1"/>
              <a:t>dropoff_longitude</a:t>
            </a:r>
            <a:endParaRPr lang="en-US" b="1" dirty="0"/>
          </a:p>
          <a:p>
            <a:r>
              <a:rPr lang="en-US" b="1" dirty="0" err="1"/>
              <a:t>dropoff_latitude</a:t>
            </a:r>
            <a:endParaRPr lang="en-US" b="1" dirty="0"/>
          </a:p>
          <a:p>
            <a:r>
              <a:rPr lang="en-US" b="1" dirty="0" err="1"/>
              <a:t>passenger_count</a:t>
            </a:r>
            <a:endParaRPr lang="en-US" b="1" dirty="0"/>
          </a:p>
          <a:p>
            <a:r>
              <a:rPr lang="en-US" b="1" dirty="0"/>
              <a:t>hour</a:t>
            </a:r>
          </a:p>
          <a:p>
            <a:r>
              <a:rPr lang="en-US" b="1" dirty="0" err="1"/>
              <a:t>day_of_week</a:t>
            </a:r>
            <a:endParaRPr lang="en-US" b="1" dirty="0"/>
          </a:p>
          <a:p>
            <a:r>
              <a:rPr lang="en-US" b="1" dirty="0"/>
              <a:t>month</a:t>
            </a:r>
          </a:p>
          <a:p>
            <a:r>
              <a:rPr lang="en-US" b="1" dirty="0"/>
              <a:t>year</a:t>
            </a:r>
          </a:p>
          <a:p>
            <a:r>
              <a:rPr lang="en-US" b="1" dirty="0" err="1"/>
              <a:t>distance_km</a:t>
            </a:r>
            <a:r>
              <a:rPr lang="en-US" b="1" dirty="0"/>
              <a:t> </a:t>
            </a:r>
          </a:p>
          <a:p>
            <a:r>
              <a:rPr lang="en-US" b="1" dirty="0" err="1"/>
              <a:t>estimated_duration_minutes</a:t>
            </a:r>
            <a:endParaRPr lang="en-US" b="1" dirty="0"/>
          </a:p>
          <a:p>
            <a:pPr marL="342900" indent="-34290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6ED99-EAB8-3825-B271-8619CA98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5583C3-21B2-4C74-DC66-BDFB98374429}"/>
              </a:ext>
            </a:extLst>
          </p:cNvPr>
          <p:cNvSpPr txBox="1">
            <a:spLocks/>
          </p:cNvSpPr>
          <p:nvPr/>
        </p:nvSpPr>
        <p:spPr>
          <a:xfrm>
            <a:off x="5183305" y="2011362"/>
            <a:ext cx="3619501" cy="415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Encoded features:</a:t>
            </a:r>
            <a:endParaRPr lang="en-US" dirty="0"/>
          </a:p>
          <a:p>
            <a:r>
              <a:rPr lang="en-US" b="1" dirty="0" err="1"/>
              <a:t>distance_category_encoded</a:t>
            </a:r>
            <a:endParaRPr lang="en-US" b="1" dirty="0"/>
          </a:p>
          <a:p>
            <a:r>
              <a:rPr lang="en-US" b="1" dirty="0" err="1"/>
              <a:t>time_of_day_encoded</a:t>
            </a:r>
            <a:endParaRPr lang="en-US" b="1" dirty="0"/>
          </a:p>
          <a:p>
            <a:r>
              <a:rPr lang="en-US" b="1" dirty="0" err="1"/>
              <a:t>is_weekend_int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6299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25F5-3249-FC21-8AED-5E363B08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C73E-3E2C-0BA5-5E60-85C9B717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/>
          <a:lstStyle/>
          <a:p>
            <a:r>
              <a:rPr lang="en-US" dirty="0"/>
              <a:t>model scores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13747-5926-C802-0D24-91C9A8843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A64C3-033E-15AC-38A0-FC17938C71D6}"/>
              </a:ext>
            </a:extLst>
          </p:cNvPr>
          <p:cNvSpPr txBox="1"/>
          <p:nvPr/>
        </p:nvSpPr>
        <p:spPr>
          <a:xfrm>
            <a:off x="923545" y="1794242"/>
            <a:ext cx="103540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i="1" dirty="0"/>
              <a:t>Stacking Ensemble (Ridge)</a:t>
            </a:r>
            <a:r>
              <a:rPr lang="en-US" dirty="0"/>
              <a:t>	RMSE: 2.8455 	MAE: 1.5170 	R2: 0.9045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i="1" dirty="0"/>
              <a:t>Best 3 Models Ensemble</a:t>
            </a:r>
            <a:r>
              <a:rPr lang="en-US" dirty="0"/>
              <a:t>		RMSE: 2.8530 	MAE: 1.5316 	R2: 0.9040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/>
              <a:t>XGBoost</a:t>
            </a:r>
            <a:r>
              <a:rPr lang="en-US" dirty="0"/>
              <a:t>			RMSE: 2.8894 	MAE: 1.5436 	R2: 0.9015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/>
              <a:t>LightGBM</a:t>
            </a:r>
            <a:r>
              <a:rPr lang="en-US" b="1" dirty="0"/>
              <a:t> </a:t>
            </a:r>
            <a:r>
              <a:rPr lang="en-US" dirty="0"/>
              <a:t>			RMSE: 2.9258 	MAE: 1.6047 	R2: 0.8990</a:t>
            </a:r>
          </a:p>
          <a:p>
            <a:pPr marL="285750" indent="-285750">
              <a:buFontTx/>
              <a:buChar char="-"/>
            </a:pPr>
            <a:endParaRPr lang="en-US" b="1" i="1" dirty="0"/>
          </a:p>
          <a:p>
            <a:pPr marL="285750" indent="-285750">
              <a:buFontTx/>
              <a:buChar char="-"/>
            </a:pPr>
            <a:r>
              <a:rPr lang="en-US" b="1" dirty="0" err="1"/>
              <a:t>CatBoost</a:t>
            </a:r>
            <a:r>
              <a:rPr lang="en-US" b="1" dirty="0"/>
              <a:t> </a:t>
            </a:r>
            <a:r>
              <a:rPr lang="en-US" dirty="0"/>
              <a:t>			RMSE: 2.9266 	MAE: 1.5822 	R2: 0.8900</a:t>
            </a:r>
          </a:p>
          <a:p>
            <a:pPr marL="285750" indent="-285750">
              <a:buFontTx/>
              <a:buChar char="-"/>
            </a:pPr>
            <a:endParaRPr lang="en-US" b="1" i="1" dirty="0"/>
          </a:p>
          <a:p>
            <a:pPr marL="285750" indent="-285750">
              <a:buFontTx/>
              <a:buChar char="-"/>
            </a:pPr>
            <a:r>
              <a:rPr lang="en-US" b="1" dirty="0"/>
              <a:t>Random Forest </a:t>
            </a:r>
            <a:r>
              <a:rPr lang="en-US" dirty="0"/>
              <a:t>		RMSE: 2.9987 	MAE: 1.6552 	R2: 0.8939</a:t>
            </a:r>
            <a:endParaRPr lang="en-US" i="1" dirty="0"/>
          </a:p>
          <a:p>
            <a:endParaRPr lang="en-US" i="1" dirty="0"/>
          </a:p>
          <a:p>
            <a:pPr marL="285750" indent="-285750">
              <a:buFontTx/>
              <a:buChar char="-"/>
            </a:pPr>
            <a:r>
              <a:rPr lang="en-US" b="1" dirty="0" err="1"/>
              <a:t>ElasticNet</a:t>
            </a:r>
            <a:r>
              <a:rPr lang="en-US" dirty="0"/>
              <a:t>			RMSE: 4.3006 	MAE: 2.5433 	R2: 0.7818</a:t>
            </a:r>
            <a:endParaRPr lang="en-US" i="1" dirty="0"/>
          </a:p>
          <a:p>
            <a:pPr marL="285750" indent="-285750">
              <a:buFontTx/>
              <a:buChar char="-"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25482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C0E6-F3C8-2B8A-B4A4-24903E5DA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E823-987F-5041-9FF5-F8C0186C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4" y="65862"/>
            <a:ext cx="10354052" cy="1209765"/>
          </a:xfrm>
        </p:spPr>
        <p:txBody>
          <a:bodyPr/>
          <a:lstStyle/>
          <a:p>
            <a:pPr algn="ctr"/>
            <a:r>
              <a:rPr lang="en-US" dirty="0"/>
              <a:t>OLD Model evaluations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F781F-031B-65D6-9AEB-7A90B8245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72DA6BA8-35B7-15FC-51C4-DE401D633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632" y="940370"/>
            <a:ext cx="7410735" cy="591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072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C1D9-3369-C845-73D3-642F94C7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51E0-2B2A-DDF9-03D9-87C7F752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4" y="65862"/>
            <a:ext cx="10354052" cy="1209765"/>
          </a:xfrm>
        </p:spPr>
        <p:txBody>
          <a:bodyPr/>
          <a:lstStyle/>
          <a:p>
            <a:pPr algn="ctr"/>
            <a:r>
              <a:rPr lang="en-US" dirty="0"/>
              <a:t>NEW Model evaluations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34FA7-5288-49CD-0D1A-D758C2D07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5B4E8-FD60-C4C7-4294-DA005F512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1020572"/>
            <a:ext cx="7039765" cy="562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85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5BE40-2486-16D2-0704-BCC0304F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F126606-39A7-381D-5705-1E09317AA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067E3B8-F4B4-FA11-0A0E-06FF5CF9D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 err="1"/>
              <a:t>Streamlit</a:t>
            </a:r>
            <a:r>
              <a:rPr lang="en-US" dirty="0"/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319954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1F903-FDE3-FDD6-7062-C1A4E7B93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E8DDDCD-1444-4D55-2F40-4614C2FDF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D485ADF-6280-47E7-2399-3F6243AAF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02540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/>
          <a:lstStyle/>
          <a:p>
            <a:r>
              <a:rPr lang="en-US" dirty="0"/>
              <a:t>how this positively affects the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C67C-D286-74AE-086C-3E45FF9D95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1769766"/>
            <a:ext cx="10099344" cy="3747180"/>
          </a:xfrm>
        </p:spPr>
        <p:txBody>
          <a:bodyPr>
            <a:noAutofit/>
          </a:bodyPr>
          <a:lstStyle/>
          <a:p>
            <a:r>
              <a:rPr lang="en-US" altLang="en-US" sz="1800" b="0" dirty="0"/>
              <a:t>🔁 </a:t>
            </a:r>
            <a:r>
              <a:rPr lang="en-US" altLang="en-US" sz="1800" dirty="0"/>
              <a:t>More Accurate Fare Estimates</a:t>
            </a:r>
          </a:p>
          <a:p>
            <a:pPr marL="0" indent="0">
              <a:buNone/>
            </a:pPr>
            <a:r>
              <a:rPr lang="en-US" altLang="en-US" sz="1800" b="0" dirty="0"/>
              <a:t>→ Enhances customer experience by reducing price surprises and building trust.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/>
              <a:t>📈 </a:t>
            </a:r>
            <a:r>
              <a:rPr lang="en-US" altLang="en-US" sz="1800" dirty="0"/>
              <a:t>Smarter Dynamic Pricing</a:t>
            </a:r>
            <a:br>
              <a:rPr lang="en-US" altLang="en-US" sz="1800" b="0" dirty="0"/>
            </a:br>
            <a:r>
              <a:rPr lang="en-US" altLang="en-US" sz="1800" b="0" dirty="0"/>
              <a:t>→ Optimizes fares in real time based on distance, time of day, and location — boosting profitability.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b="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/>
              <a:t>🧠 </a:t>
            </a:r>
            <a:r>
              <a:rPr lang="en-US" altLang="en-US" sz="1800" dirty="0"/>
              <a:t>Fraud Detection &amp; Prevention</a:t>
            </a:r>
            <a:br>
              <a:rPr lang="en-US" altLang="en-US" sz="1800" b="0" dirty="0"/>
            </a:br>
            <a:r>
              <a:rPr lang="en-US" altLang="en-US" sz="1800" b="0" dirty="0"/>
              <a:t>→ Flags suspicious trips (e.g., short distance, high fare) to reduce financial losses.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b="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/>
              <a:t>📊 </a:t>
            </a:r>
            <a:r>
              <a:rPr lang="en-US" altLang="en-US" sz="1800" dirty="0"/>
              <a:t>Better Revenue Forecasting</a:t>
            </a:r>
            <a:br>
              <a:rPr lang="en-US" altLang="en-US" sz="1800" b="0" dirty="0"/>
            </a:br>
            <a:r>
              <a:rPr lang="en-US" altLang="en-US" sz="1800" b="0" dirty="0"/>
              <a:t>→ Helps Uber predict earnings per ride, aiding in budgeting and business planning.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b="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/>
              <a:t>📍</a:t>
            </a:r>
            <a:r>
              <a:rPr lang="en-US" altLang="en-US" sz="1800" dirty="0"/>
              <a:t>Identifying High-Value Areas &amp; Time Slots</a:t>
            </a:r>
            <a:br>
              <a:rPr lang="en-US" altLang="en-US" sz="1800" b="0" dirty="0"/>
            </a:br>
            <a:r>
              <a:rPr lang="en-US" altLang="en-US" sz="1800" b="0" dirty="0"/>
              <a:t>→ Informs targeted driver placement and promotions to maximize revenue.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576148F-6CDB-5702-0C40-2926425F2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6BD5-9A30-B75A-8683-F82F4136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3274-3DEB-2B5D-8FDB-118E513B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9080502" cy="1617017"/>
          </a:xfrm>
        </p:spPr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B8137-EBDD-9A1B-7E1A-7F73EBDEB86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1769766"/>
            <a:ext cx="10099344" cy="3747180"/>
          </a:xfrm>
        </p:spPr>
        <p:txBody>
          <a:bodyPr>
            <a:noAutofit/>
          </a:bodyPr>
          <a:lstStyle/>
          <a:p>
            <a:r>
              <a:rPr lang="en-US" dirty="0"/>
              <a:t>Real-time Supply &amp; Demand: </a:t>
            </a:r>
            <a:r>
              <a:rPr lang="en-US" b="0" dirty="0"/>
              <a:t>Incorporate live data on available drivers and active rider requests, crucial for Uber's dynamic "surge" pricing.</a:t>
            </a:r>
          </a:p>
          <a:p>
            <a:r>
              <a:rPr lang="en-US" dirty="0"/>
              <a:t>Live Environmental Data: </a:t>
            </a:r>
            <a:r>
              <a:rPr lang="en-US" b="0" dirty="0"/>
              <a:t>Integrate real-time traffic conditions (congestion, incidents) and hyperlocal weather updates that impact travel time and demand.</a:t>
            </a:r>
          </a:p>
          <a:p>
            <a:r>
              <a:rPr lang="en-US" dirty="0"/>
              <a:t>Real-World Event Recognition: </a:t>
            </a:r>
            <a:r>
              <a:rPr lang="en-US" b="0" dirty="0"/>
              <a:t>Account for major events (concerts, sports, festivals, holidays) that create localized demand spikes.</a:t>
            </a:r>
          </a:p>
          <a:p>
            <a:r>
              <a:rPr lang="en-US" dirty="0"/>
              <a:t>Advanced Modeling: </a:t>
            </a:r>
            <a:r>
              <a:rPr lang="en-US" b="0" dirty="0"/>
              <a:t>Explore deep learning architectures (e.g., LSTMs for time series, or even basic NLP for textual event descriptions) to capture more complex patterns.</a:t>
            </a:r>
          </a:p>
          <a:p>
            <a:r>
              <a:rPr lang="en-US" dirty="0"/>
              <a:t>Access to Proprietary Data: </a:t>
            </a:r>
            <a:r>
              <a:rPr lang="en-US" b="0" dirty="0"/>
              <a:t>Acknowledge that real Uber models benefit from vast, internal historical trip data and operational metrics unavailable externally.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00CCC-740B-0BCA-900B-8E1219158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C521F32-8383-6E1E-FDAB-E57D53F24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317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2">
    <wetp:webextensionref xmlns:r="http://schemas.openxmlformats.org/officeDocument/2006/relationships" r:id="rId1"/>
  </wetp:taskpane>
  <wetp:taskpane dockstate="right" visibility="0" width="70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85FC157-3035-4596-B365-D380EAB863A5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8DC5AD2-69C9-43D8-8602-E636575953E5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10375</TotalTime>
  <Words>790</Words>
  <Application>Microsoft Office PowerPoint</Application>
  <PresentationFormat>Widescreen</PresentationFormat>
  <Paragraphs>141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Tenorite</vt:lpstr>
      <vt:lpstr>Custom</vt:lpstr>
      <vt:lpstr>Uber fares Prediction  Anthony mancia</vt:lpstr>
      <vt:lpstr>Business scenario</vt:lpstr>
      <vt:lpstr>Key features </vt:lpstr>
      <vt:lpstr>Analytic INSIGHTS</vt:lpstr>
      <vt:lpstr>Key statistics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Pickup + dropoff latitude &amp; longitudes</vt:lpstr>
      <vt:lpstr>Fare amount over time</vt:lpstr>
      <vt:lpstr>Feature engineering: columns added</vt:lpstr>
      <vt:lpstr>Machine learning</vt:lpstr>
      <vt:lpstr>Features used in modeling</vt:lpstr>
      <vt:lpstr>model scores</vt:lpstr>
      <vt:lpstr>OLD Model evaluations</vt:lpstr>
      <vt:lpstr>NEW Model evaluations</vt:lpstr>
      <vt:lpstr>Streamlit app</vt:lpstr>
      <vt:lpstr>conclusion</vt:lpstr>
      <vt:lpstr>how this positively affects the business</vt:lpstr>
      <vt:lpstr>Future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Mancia</dc:creator>
  <cp:lastModifiedBy>Anthony Mancia</cp:lastModifiedBy>
  <cp:revision>3</cp:revision>
  <dcterms:created xsi:type="dcterms:W3CDTF">2025-07-02T21:31:19Z</dcterms:created>
  <dcterms:modified xsi:type="dcterms:W3CDTF">2025-07-26T20:33:57Z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